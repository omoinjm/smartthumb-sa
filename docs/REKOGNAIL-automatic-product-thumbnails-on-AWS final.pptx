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Familjen Grotesk Bold" panose="020B0604020202020204" charset="0"/>
      <p:regular r:id="rId12"/>
    </p:embeddedFont>
    <p:embeddedFont>
      <p:font typeface="Onest" panose="020B0604020202020204" charset="0"/>
      <p:regular r:id="rId13"/>
    </p:embeddedFont>
    <p:embeddedFont>
      <p:font typeface="Onest Bold" panose="020B0604020202020204" charset="0"/>
      <p:regular r:id="rId14"/>
    </p:embeddedFont>
    <p:embeddedFont>
      <p:font typeface="Onest Semi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26357" autoAdjust="0"/>
  </p:normalViewPr>
  <p:slideViewPr>
    <p:cSldViewPr snapToGrid="0" snapToObjects="1">
      <p:cViewPr>
        <p:scale>
          <a:sx n="75" d="100"/>
          <a:sy n="75" d="100"/>
        </p:scale>
        <p:origin x="300" y="-804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8095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 min.
Good morning judges and mentors. We are Group 3 presenting SmartThumb SA, built for the Praesignis AWS Hackathon Stage 1. Team members are Londiwe Ngema, Tumelo Mathenjwa, Magala Ratsoma, and Nhlanhla Malaza. We built a zero-maintenance serverless pipeline that turns raw smartphone product photos into clean, optimized catalog thumbnails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 min.
In South Africa, thousands of township and informal micro-enterprises run their commerce entirely through WhatsApp and social channels. Merchants take raw photos on whatever smartphone they have. High-resolution multi-megabyte photos bog down chats and mobile data bundles. Resizing them manually takes valuable trading time and leads to messy, inconsistent product galleries.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 min.
</a:t>
            </a:r>
          </a:p>
          <a:p>
            <a:r>
              <a:rPr lang="en-US" dirty="0"/>
              <a:t>"Our backend solution is fully automated. The moment a seller uploads a product photo, our system instantly triggers a background workflow. It automatically resizes the image into a clean, perfectly proportioned thumbnail, saves it securely, and uses smart AI to scan and auto-tag the item. Crucially, this entire engine operates entirely in the background, meaning it is independent, lightning-fast, and ready to scale effortlessly."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 min.
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guarantee 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architectural resilience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we focused heavily on preventing a classic serverless pitfall: infinite loop triggers. If a system saves a processed image back into its original folder, it can accidentally re-trigger itself indefinitely, creating massive cost spikes. We eliminated this risk entirely by 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decoupling our event storage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, creating a strict one-way path from a private ingestion bucket to a separate thumbnail output bucket.</a:t>
            </a:r>
          </a:p>
          <a:p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Security is baked in from day one using strict, 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least-privilege access controls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everything is monitored seamlessly in the background. Finally, we deployed an 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 Gateway-powered Demo Lane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This gives us </a:t>
            </a:r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real-time visibility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allowing you to trigger a live upload right now and watch the system process the data safely and instantly.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min.
We are now switching to the running web UI to demonstrate the live pipeline. We will upload an uncompressed smartphone product photo, inspect the immediate S3 event trigger, examine the 97.1% payload reduction, review CloudWatch logs, and view auto-generated Rekognition catalog tags.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 min.
During the hackathon we tackled several real-world engineering hurdles. First was recursive triggers: physical bucket segregation proved far safer than relying on S3 key prefix rules. Second was scoping IAM down from broad wildcards to strict least-privilege resource ARNs. Third was packaging Pillow C-bindings cleanly for Lambda ARM64/x86 runtimes.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2 min including Q&amp;A.
To conclude: our core serverless thumbnailing engine is verified, production-grade, and works without any UI dependency. For Stage 2, our roadmap targets multi-size generation, WebP compression tailored for WhatsApp data savings, automated S3 folder organization powered by Rekognition labels, and SNS failure alerts.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 min.
Thank you to Praesignis, the mentors, and the judges. We are now open for any technical questions regarding our architecture, Lambda configuration, IAM scoping, or Stage 2 expansion plans.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D17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80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725910"/>
            <a:ext cx="609584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09585" y="2270545"/>
            <a:ext cx="6095848" cy="1709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400" b="1" kern="100" spc="-110" dirty="0" err="1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RekogNail</a:t>
            </a:r>
            <a:r>
              <a:rPr lang="en-US" sz="4400" b="1" kern="100" spc="-11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: </a:t>
            </a:r>
            <a:r>
              <a:rPr lang="en-US" sz="4400" b="1" kern="100" spc="-110" dirty="0">
                <a:solidFill>
                  <a:srgbClr val="FFC233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automatic product thumbnails</a:t>
            </a:r>
            <a:r>
              <a:rPr lang="en-US" sz="4400" b="1" kern="100" spc="-11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 on AWS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4225230"/>
            <a:ext cx="711182" cy="31651"/>
          </a:xfrm>
          <a:prstGeom prst="roundRect">
            <a:avLst>
              <a:gd name="adj" fmla="val 49998"/>
            </a:avLst>
          </a:prstGeom>
          <a:solidFill>
            <a:srgbClr val="FFC233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4483993"/>
            <a:ext cx="6705432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kern="100" spc="32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 Group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585" y="4942344"/>
            <a:ext cx="6705432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1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Londiwe Ngema · Tumelo Mathenjwa · Magala Ratsoma · Nhlanhla Malaza</a:t>
            </a:r>
            <a:endParaRPr lang="en-US" sz="11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017" y="0"/>
            <a:ext cx="8126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1336080"/>
            <a:ext cx="1942258" cy="283865"/>
          </a:xfrm>
          <a:prstGeom prst="roundRect">
            <a:avLst>
              <a:gd name="adj" fmla="val 32212"/>
            </a:avLst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1384478"/>
            <a:ext cx="2323248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28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01 · 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778005"/>
            <a:ext cx="6095848" cy="88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400" b="1" kern="100" spc="-85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Messy phone photos make </a:t>
            </a:r>
            <a:r>
              <a:rPr lang="en-US" sz="3400" b="1" kern="100" spc="-85" dirty="0">
                <a:solidFill>
                  <a:srgbClr val="FF6A3D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catalogues hard to manage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09585" y="2918321"/>
            <a:ext cx="711182" cy="31651"/>
          </a:xfrm>
          <a:prstGeom prst="roundRect">
            <a:avLst>
              <a:gd name="adj" fmla="val 49998"/>
            </a:avLst>
          </a:prstGeom>
          <a:solidFill>
            <a:srgbClr val="FF6A3D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3177084"/>
            <a:ext cx="6095848" cy="2344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Small and informal South African merchants photograph inventory directly on smartphones for WhatsApp Business, Instagram, and local storefronts.</a:t>
            </a:r>
            <a:endParaRPr lang="en-US" sz="1600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Manual cropping, resizing, and renaming on mobile devices is tedious, error-prone, and steals hours from selling.</a:t>
            </a:r>
            <a:endParaRPr lang="en-US" sz="1600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Inconsistent file weights and mismatched aspect ratios slow down customer storefronts and degrade catalog appearance.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017" y="0"/>
            <a:ext cx="8126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11188"/>
            <a:ext cx="2034132" cy="283865"/>
          </a:xfrm>
          <a:prstGeom prst="roundRect">
            <a:avLst>
              <a:gd name="adj" fmla="val 32212"/>
            </a:avLst>
          </a:prstGeom>
          <a:solidFill>
            <a:srgbClr val="7FA6F2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659586"/>
            <a:ext cx="2415122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28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02 · THE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132488"/>
            <a:ext cx="10972526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400" b="1" kern="100" spc="-85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Upload a photo, </a:t>
            </a:r>
            <a:r>
              <a:rPr lang="en-US" sz="3400" b="1" kern="100" spc="-85" dirty="0">
                <a:solidFill>
                  <a:srgbClr val="7FA6F2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get a thumbnail automatically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1706959"/>
            <a:ext cx="109725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An event-driven serverless pipeline that handles image lifecycle with zero manual intervention.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2621359"/>
            <a:ext cx="82161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7FA6F2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9585" y="2905820"/>
            <a:ext cx="2514537" cy="19050"/>
          </a:xfrm>
          <a:prstGeom prst="rect">
            <a:avLst/>
          </a:prstGeom>
          <a:solidFill>
            <a:srgbClr val="7FA6F2"/>
          </a:solidFill>
          <a:ln/>
        </p:spPr>
      </p:sp>
      <p:sp>
        <p:nvSpPr>
          <p:cNvPr id="8" name="Text 6"/>
          <p:cNvSpPr/>
          <p:nvPr/>
        </p:nvSpPr>
        <p:spPr>
          <a:xfrm>
            <a:off x="609585" y="3046710"/>
            <a:ext cx="2514537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1. Seller uploads raw photo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585" y="3854351"/>
            <a:ext cx="2514537" cy="709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JPG or PNG image drops directly into a private Amazon S3 source bucket.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28914" y="2621359"/>
            <a:ext cx="855343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7FA6F2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02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28914" y="2905820"/>
            <a:ext cx="2514537" cy="19050"/>
          </a:xfrm>
          <a:prstGeom prst="rect">
            <a:avLst/>
          </a:prstGeom>
          <a:solidFill>
            <a:srgbClr val="7FA6F2"/>
          </a:solidFill>
          <a:ln/>
        </p:spPr>
      </p:sp>
      <p:sp>
        <p:nvSpPr>
          <p:cNvPr id="12" name="Text 10"/>
          <p:cNvSpPr/>
          <p:nvPr/>
        </p:nvSpPr>
        <p:spPr>
          <a:xfrm>
            <a:off x="3428914" y="3046710"/>
            <a:ext cx="2514537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2. Event triggers Lambda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8914" y="3854351"/>
            <a:ext cx="2514537" cy="118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S3 event fires an isolated Python 3.12 worker using Pillow to resize to max 300×300 preserving aspect ratio.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248244" y="2621359"/>
            <a:ext cx="867646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7FA6F2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03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48244" y="2905820"/>
            <a:ext cx="2514537" cy="19050"/>
          </a:xfrm>
          <a:prstGeom prst="rect">
            <a:avLst/>
          </a:prstGeom>
          <a:solidFill>
            <a:srgbClr val="7FA6F2"/>
          </a:solidFill>
          <a:ln/>
        </p:spPr>
      </p:sp>
      <p:sp>
        <p:nvSpPr>
          <p:cNvPr id="16" name="Text 14"/>
          <p:cNvSpPr/>
          <p:nvPr/>
        </p:nvSpPr>
        <p:spPr>
          <a:xfrm>
            <a:off x="6248244" y="3046710"/>
            <a:ext cx="2514537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3. Output stored cleanly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48244" y="3854351"/>
            <a:ext cx="2514537" cy="946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Processed thumbnail lands in a dedicated output bucket, isolated from incoming uploads.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067573" y="2621359"/>
            <a:ext cx="87320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dirty="0">
                <a:solidFill>
                  <a:srgbClr val="7FA6F2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04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067573" y="2905820"/>
            <a:ext cx="2514537" cy="19050"/>
          </a:xfrm>
          <a:prstGeom prst="rect">
            <a:avLst/>
          </a:prstGeom>
          <a:solidFill>
            <a:srgbClr val="7FA6F2"/>
          </a:solidFill>
          <a:ln/>
        </p:spPr>
      </p:sp>
      <p:sp>
        <p:nvSpPr>
          <p:cNvPr id="20" name="Text 18"/>
          <p:cNvSpPr/>
          <p:nvPr/>
        </p:nvSpPr>
        <p:spPr>
          <a:xfrm>
            <a:off x="9067573" y="3046710"/>
            <a:ext cx="251453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4. Smart categorization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067573" y="3545780"/>
            <a:ext cx="2514537" cy="946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Amazon Rekognition labels inventory objects (e.g. Shoes, Apparel) to assist catalogue search.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09585" y="5265638"/>
            <a:ext cx="10972526" cy="981075"/>
          </a:xfrm>
          <a:prstGeom prst="roundRect">
            <a:avLst>
              <a:gd name="adj" fmla="val 1165"/>
            </a:avLst>
          </a:prstGeom>
          <a:solidFill>
            <a:srgbClr val="0C2F74"/>
          </a:solidFill>
          <a:ln/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80" y="5548809"/>
            <a:ext cx="203195" cy="1625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19170" y="5519638"/>
            <a:ext cx="10159746" cy="473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Onest Bold" pitchFamily="34" charset="0"/>
                <a:ea typeface="Onest Bold" pitchFamily="34" charset="-122"/>
                <a:cs typeface="Onest Bold" pitchFamily="34" charset="0"/>
              </a:rPr>
              <a:t>Core architecture vs. demo layer:</a:t>
            </a:r>
            <a:r>
              <a:rPr lang="en-US" sz="135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 The S3-to-Lambda pipeline is the production product and operates fully headless without any frontend. The browser interface is strictly a testing and evaluation harness.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936526"/>
            <a:ext cx="2087709" cy="283865"/>
          </a:xfrm>
          <a:prstGeom prst="roundRect">
            <a:avLst>
              <a:gd name="adj" fmla="val 32212"/>
            </a:avLst>
          </a:prstGeom>
          <a:solidFill>
            <a:srgbClr val="FFC233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984924"/>
            <a:ext cx="2468699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28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03 · 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457826"/>
            <a:ext cx="3139401" cy="132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400" b="1" kern="100" spc="-85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Two buckets, one event, </a:t>
            </a:r>
            <a:r>
              <a:rPr lang="en-US" sz="3400" b="1" kern="100" spc="-85" dirty="0">
                <a:solidFill>
                  <a:srgbClr val="FFC233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no recursion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2989362"/>
            <a:ext cx="3139401" cy="1419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Writing thumbnails back to the trigger bucket is a classic serverless failure mode that creates infinite bill-inflating loops. SmartThumb SA physically isolates incoming and processed media.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09585" y="4560987"/>
            <a:ext cx="3139401" cy="136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FFC233"/>
                </a:solidFill>
                <a:latin typeface="Onest Bold" pitchFamily="34" charset="0"/>
                <a:ea typeface="Onest Bold" pitchFamily="34" charset="-122"/>
                <a:cs typeface="Onest Bold" pitchFamily="34" charset="0"/>
              </a:rPr>
              <a:t>Demo Lane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API Gateway powers the demo web interface to trigger uploads and inspect live CloudWatch execution traces.</a:t>
            </a:r>
            <a:endParaRPr lang="en-US" sz="13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2849" y="609600"/>
            <a:ext cx="6309262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792" y="2425799"/>
            <a:ext cx="1158211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kern="100" spc="105" dirty="0">
                <a:solidFill>
                  <a:srgbClr val="FFC233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LIVE DEMONSTRATION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2777002"/>
            <a:ext cx="10972526" cy="896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7200" b="1" kern="100" spc="-216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Live Demo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609585" y="3861197"/>
            <a:ext cx="711182" cy="31651"/>
          </a:xfrm>
          <a:prstGeom prst="roundRect">
            <a:avLst>
              <a:gd name="adj" fmla="val 49998"/>
            </a:avLst>
          </a:prstGeom>
          <a:solidFill>
            <a:srgbClr val="FFC233"/>
          </a:solidFill>
          <a:ln/>
        </p:spPr>
      </p:sp>
      <p:sp>
        <p:nvSpPr>
          <p:cNvPr id="5" name="Text 3"/>
          <p:cNvSpPr/>
          <p:nvPr/>
        </p:nvSpPr>
        <p:spPr>
          <a:xfrm>
            <a:off x="304792" y="4119959"/>
            <a:ext cx="11582110" cy="3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Switching to running application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1746802" cy="283865"/>
          </a:xfrm>
          <a:prstGeom prst="roundRect">
            <a:avLst>
              <a:gd name="adj" fmla="val 32212"/>
            </a:avLst>
          </a:prstGeom>
          <a:solidFill>
            <a:srgbClr val="7FA6F2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657999"/>
            <a:ext cx="2127792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28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04 · AWS STACK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051525"/>
            <a:ext cx="10972526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400" b="1" kern="100" spc="-85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Built on </a:t>
            </a:r>
            <a:r>
              <a:rPr lang="en-US" sz="3400" b="1" kern="100" spc="-85" dirty="0">
                <a:solidFill>
                  <a:srgbClr val="7FA6F2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six AWS services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09585" y="1702197"/>
            <a:ext cx="3581310" cy="1950045"/>
          </a:xfrm>
          <a:prstGeom prst="roundRect">
            <a:avLst>
              <a:gd name="adj" fmla="val 6252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29" y="1937147"/>
            <a:ext cx="406390" cy="406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4529" y="2445147"/>
            <a:ext cx="311142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Amazon S3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44529" y="2944217"/>
            <a:ext cx="3111422" cy="473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Private source and output buckets; event trigger.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43291" y="1702197"/>
            <a:ext cx="3505112" cy="1950045"/>
          </a:xfrm>
          <a:prstGeom prst="roundRect">
            <a:avLst>
              <a:gd name="adj" fmla="val 6252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235" y="1937147"/>
            <a:ext cx="406390" cy="406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8235" y="2445147"/>
            <a:ext cx="303522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AWS Lambda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578235" y="2944217"/>
            <a:ext cx="3270168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Python 3.12 + Pillow.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000800" y="1702197"/>
            <a:ext cx="3581310" cy="1950045"/>
          </a:xfrm>
          <a:prstGeom prst="roundRect">
            <a:avLst>
              <a:gd name="adj" fmla="val 6252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5744" y="1937147"/>
            <a:ext cx="406390" cy="4064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35744" y="2445147"/>
            <a:ext cx="311142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AWS IAM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8235744" y="2944217"/>
            <a:ext cx="3346366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Least-privilege role.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09585" y="3804642"/>
            <a:ext cx="3581310" cy="1713508"/>
          </a:xfrm>
          <a:prstGeom prst="roundRect">
            <a:avLst>
              <a:gd name="adj" fmla="val 7115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529" y="4039592"/>
            <a:ext cx="406390" cy="4064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4529" y="4547592"/>
            <a:ext cx="311142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Amazon CloudWatch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844529" y="5046663"/>
            <a:ext cx="3346366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Logs.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4343291" y="3804642"/>
            <a:ext cx="3505112" cy="1713508"/>
          </a:xfrm>
          <a:prstGeom prst="roundRect">
            <a:avLst>
              <a:gd name="adj" fmla="val 7115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8235" y="4039592"/>
            <a:ext cx="406390" cy="4064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78235" y="4547592"/>
            <a:ext cx="303522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Amazon Rekognition</a:t>
            </a:r>
            <a:endParaRPr lang="en-US" sz="1800" dirty="0"/>
          </a:p>
        </p:txBody>
      </p:sp>
      <p:sp>
        <p:nvSpPr>
          <p:cNvPr id="24" name="Text 17"/>
          <p:cNvSpPr/>
          <p:nvPr/>
        </p:nvSpPr>
        <p:spPr>
          <a:xfrm>
            <a:off x="4578235" y="5046663"/>
            <a:ext cx="3270168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Optional labels (e.g. Car, Wheel, Tire).</a:t>
            </a:r>
            <a:endParaRPr lang="en-US" sz="1350" dirty="0"/>
          </a:p>
        </p:txBody>
      </p:sp>
      <p:sp>
        <p:nvSpPr>
          <p:cNvPr id="25" name="Shape 18"/>
          <p:cNvSpPr/>
          <p:nvPr/>
        </p:nvSpPr>
        <p:spPr>
          <a:xfrm>
            <a:off x="8000800" y="3804642"/>
            <a:ext cx="3581310" cy="1713508"/>
          </a:xfrm>
          <a:prstGeom prst="roundRect">
            <a:avLst>
              <a:gd name="adj" fmla="val 7115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35744" y="4039592"/>
            <a:ext cx="406390" cy="4064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235744" y="4547592"/>
            <a:ext cx="311142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API Gateway</a:t>
            </a:r>
            <a:endParaRPr lang="en-US" sz="1800" dirty="0"/>
          </a:p>
        </p:txBody>
      </p:sp>
      <p:sp>
        <p:nvSpPr>
          <p:cNvPr id="28" name="Text 20"/>
          <p:cNvSpPr/>
          <p:nvPr/>
        </p:nvSpPr>
        <p:spPr>
          <a:xfrm>
            <a:off x="8235744" y="5046663"/>
            <a:ext cx="3346366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Demo UI only.</a:t>
            </a:r>
            <a:endParaRPr lang="en-US" sz="1350" dirty="0"/>
          </a:p>
        </p:txBody>
      </p:sp>
      <p:sp>
        <p:nvSpPr>
          <p:cNvPr id="29" name="Text 21"/>
          <p:cNvSpPr/>
          <p:nvPr/>
        </p:nvSpPr>
        <p:spPr>
          <a:xfrm>
            <a:off x="609585" y="5695950"/>
            <a:ext cx="10972526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Status: full upload-to-thumbnail pipeline working; example 97.1% size reduction; web UI with Upload, Gallery, Logs and Test suite tabs showing original and thumbnail size, processing time and request ID; tester tracking.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1336873"/>
            <a:ext cx="2190100" cy="283865"/>
          </a:xfrm>
          <a:prstGeom prst="roundRect">
            <a:avLst>
              <a:gd name="adj" fmla="val 32212"/>
            </a:avLst>
          </a:prstGeom>
          <a:solidFill>
            <a:srgbClr val="FF6A3D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1385272"/>
            <a:ext cx="2571090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28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05 · RETROSPECTIVE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858174"/>
            <a:ext cx="10972526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400" b="1" kern="100" spc="-85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Challenges and </a:t>
            </a:r>
            <a:r>
              <a:rPr lang="en-US" sz="3400" b="1" kern="100" spc="-85" dirty="0">
                <a:solidFill>
                  <a:srgbClr val="FF6A3D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lessons learned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09585" y="2458045"/>
            <a:ext cx="5333867" cy="3063081"/>
          </a:xfrm>
          <a:prstGeom prst="roundRect">
            <a:avLst>
              <a:gd name="adj" fmla="val 3980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4529" y="2696170"/>
            <a:ext cx="509892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105" dirty="0">
                <a:solidFill>
                  <a:srgbClr val="FF6A3D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ENGINEERING CHALLENGES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44529" y="2932311"/>
            <a:ext cx="486397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Loop Prevention &amp; IAM Scope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4529" y="3431381"/>
            <a:ext cx="4863978" cy="473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Preventing recursive invocations required strict physical bucket separation rather than prefix filtering.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44529" y="4055269"/>
            <a:ext cx="4863978" cy="31651"/>
          </a:xfrm>
          <a:prstGeom prst="roundRect">
            <a:avLst>
              <a:gd name="adj" fmla="val 49998"/>
            </a:avLst>
          </a:prstGeom>
          <a:solidFill>
            <a:srgbClr val="2B3A80"/>
          </a:solidFill>
          <a:ln/>
        </p:spPr>
      </p:sp>
      <p:sp>
        <p:nvSpPr>
          <p:cNvPr id="10" name="Text 8"/>
          <p:cNvSpPr/>
          <p:nvPr/>
        </p:nvSpPr>
        <p:spPr>
          <a:xfrm>
            <a:off x="844529" y="4314031"/>
            <a:ext cx="486397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Binary Packaging in Lambda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4529" y="4813102"/>
            <a:ext cx="4863978" cy="473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Packaging C-dependent image libraries (Pillow) required creating clean Linux-compatible layer artifacts.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48244" y="2458045"/>
            <a:ext cx="5333867" cy="3063081"/>
          </a:xfrm>
          <a:prstGeom prst="roundRect">
            <a:avLst>
              <a:gd name="adj" fmla="val 3980"/>
            </a:avLst>
          </a:prstGeom>
          <a:solidFill>
            <a:srgbClr val="152060"/>
          </a:solidFill>
          <a:ln w="6350">
            <a:solidFill>
              <a:srgbClr val="2B3A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83188" y="2696170"/>
            <a:ext cx="5098922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kern="100" spc="105" dirty="0">
                <a:solidFill>
                  <a:srgbClr val="7FA6F2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ARCHITECTURAL LESSONS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83188" y="2932311"/>
            <a:ext cx="486397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Decoupling UI from Processing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83188" y="3431381"/>
            <a:ext cx="4863978" cy="473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Treating the pipeline as a standalone engine ensured the core product functions independently of web clients.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83188" y="4055269"/>
            <a:ext cx="4863978" cy="31651"/>
          </a:xfrm>
          <a:prstGeom prst="roundRect">
            <a:avLst>
              <a:gd name="adj" fmla="val 49998"/>
            </a:avLst>
          </a:prstGeom>
          <a:solidFill>
            <a:srgbClr val="2B3A80"/>
          </a:solidFill>
          <a:ln/>
        </p:spPr>
      </p:sp>
      <p:sp>
        <p:nvSpPr>
          <p:cNvPr id="17" name="Text 15"/>
          <p:cNvSpPr/>
          <p:nvPr/>
        </p:nvSpPr>
        <p:spPr>
          <a:xfrm>
            <a:off x="6483188" y="4314031"/>
            <a:ext cx="486397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Observability as a First Step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83188" y="4813102"/>
            <a:ext cx="4863978" cy="473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Structured CloudWatch logging from day one turned silent permission failures into fast, solvable debug cycles.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731837"/>
            <a:ext cx="3105072" cy="283865"/>
          </a:xfrm>
          <a:prstGeom prst="roundRect">
            <a:avLst>
              <a:gd name="adj" fmla="val 32212"/>
            </a:avLst>
          </a:prstGeom>
          <a:solidFill>
            <a:srgbClr val="9BD33A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780236"/>
            <a:ext cx="3486063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28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06 · CONCLUSION &amp; ROADMAP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253138"/>
            <a:ext cx="10972526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400" b="1" kern="100" spc="-85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A working serverless pipeline, </a:t>
            </a:r>
            <a:r>
              <a:rPr lang="en-US" sz="3400" b="1" kern="100" spc="-85" dirty="0">
                <a:solidFill>
                  <a:srgbClr val="9BD33A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with clear next steps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1827609"/>
            <a:ext cx="109725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0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Stage 1 delivered a production-ready core engine; Stage 2 expands delivery formats and merchant tooling.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742009"/>
            <a:ext cx="507987" cy="508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585" y="3427809"/>
            <a:ext cx="533386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Current Baseline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09585" y="3926880"/>
            <a:ext cx="5333867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Automated 300×300 thumbnail generation and S3 storage active.</a:t>
            </a:r>
            <a:endParaRPr lang="en-US" sz="13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244" y="2742009"/>
            <a:ext cx="507987" cy="508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48244" y="3427809"/>
            <a:ext cx="533386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Multi-Resolution Output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248244" y="3926880"/>
            <a:ext cx="5333867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Generate banner, card, and icon preset bundles simultaneously.</a:t>
            </a:r>
            <a:endParaRPr lang="en-US" sz="13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4468217"/>
            <a:ext cx="507987" cy="508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9585" y="5154017"/>
            <a:ext cx="533386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WhatsApp &amp; WebP Optimization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09585" y="5653088"/>
            <a:ext cx="5333867" cy="473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Compress directly to modern WebP for micro-data usage in WhatsApp.</a:t>
            </a:r>
            <a:endParaRPr lang="en-US" sz="13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244" y="4468217"/>
            <a:ext cx="507987" cy="5080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248244" y="5154017"/>
            <a:ext cx="533386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Automated Catalogue Folders</a:t>
            </a:r>
            <a:endParaRPr lang="en-US" sz="1800" dirty="0"/>
          </a:p>
        </p:txBody>
      </p:sp>
      <p:sp>
        <p:nvSpPr>
          <p:cNvPr id="17" name="Text 11"/>
          <p:cNvSpPr/>
          <p:nvPr/>
        </p:nvSpPr>
        <p:spPr>
          <a:xfrm>
            <a:off x="6248244" y="5653088"/>
            <a:ext cx="5333867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Route images into S3 prefix trees derived from Rekognition labels.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910358"/>
            <a:ext cx="1097252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800" kern="100" spc="144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SMARTTHUMB SA · AWS HACKATHON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09585" y="2511790"/>
            <a:ext cx="10972526" cy="896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7200" b="1" kern="100" spc="-216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Questions?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609585" y="3595985"/>
            <a:ext cx="711182" cy="31651"/>
          </a:xfrm>
          <a:prstGeom prst="roundRect">
            <a:avLst>
              <a:gd name="adj" fmla="val 49998"/>
            </a:avLst>
          </a:prstGeom>
          <a:solidFill>
            <a:srgbClr val="7FA6F2"/>
          </a:solidFill>
          <a:ln/>
        </p:spPr>
      </p:sp>
      <p:sp>
        <p:nvSpPr>
          <p:cNvPr id="5" name="Text 3"/>
          <p:cNvSpPr/>
          <p:nvPr/>
        </p:nvSpPr>
        <p:spPr>
          <a:xfrm>
            <a:off x="304792" y="3854748"/>
            <a:ext cx="11582110" cy="315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Thank you for your time and feedback.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04792" y="4376539"/>
            <a:ext cx="11582110" cy="1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kern="100" spc="105" dirty="0">
                <a:solidFill>
                  <a:srgbClr val="7FA6F2"/>
                </a:solidFill>
                <a:latin typeface="Onest SemiBold" pitchFamily="34" charset="0"/>
                <a:ea typeface="Onest SemiBold" pitchFamily="34" charset="-122"/>
                <a:cs typeface="Onest SemiBold" pitchFamily="34" charset="0"/>
              </a:rPr>
              <a:t>GROUP 3 PROJECT TEAM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04792" y="4711105"/>
            <a:ext cx="11582110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0"/>
              </a:rPr>
              <a:t>Londiwe Ngema · Tumelo Mathenjwa · Magala Ratsoma · Nhlanhla Malaza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1228</TotalTime>
  <Words>1196</Words>
  <Application>Microsoft Office PowerPoint</Application>
  <PresentationFormat>Widescreen</PresentationFormat>
  <Paragraphs>95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Onest SemiBold</vt:lpstr>
      <vt:lpstr>Onest Bold</vt:lpstr>
      <vt:lpstr>Familjen Grotesk Bold</vt:lpstr>
      <vt:lpstr>Calibri</vt:lpstr>
      <vt:lpstr>Arial</vt:lpstr>
      <vt:lpstr>Onest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PCUser</dc:creator>
  <cp:lastModifiedBy>Tumelo Thomas Mathenjwa</cp:lastModifiedBy>
  <cp:revision>2</cp:revision>
  <dcterms:created xsi:type="dcterms:W3CDTF">2026-10-22T09:23:05Z</dcterms:created>
  <dcterms:modified xsi:type="dcterms:W3CDTF">2026-10-23T06:17:30Z</dcterms:modified>
</cp:coreProperties>
</file>